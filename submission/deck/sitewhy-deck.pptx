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Pretendard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cover-typographic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3" name="header@cover"/>
          <p:cNvSpPr/>
          <p:nvPr/>
        </p:nvSpPr>
        <p:spPr>
          <a:xfrm>
            <a:off x="304800" y="457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2026-10-27</a:t>
            </a:r>
            <a:endParaRPr lang="en-US" sz="1100" dirty="0"/>
          </a:p>
        </p:txBody>
      </p:sp>
      <p:sp>
        <p:nvSpPr>
          <p:cNvPr id="4" name="title@cover"/>
          <p:cNvSpPr/>
          <p:nvPr/>
        </p:nvSpPr>
        <p:spPr>
          <a:xfrm>
            <a:off x="304800" y="1828800"/>
            <a:ext cx="86106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SiteWhy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big-number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524000"/>
            <a:ext cx="6629400" cy="414401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752600"/>
            <a:ext cx="29591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97300" y="1752600"/>
            <a:ext cx="29083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Moratoria or restrictions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7300" y="2009775"/>
            <a:ext cx="29083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Sep 2026, Electric Choice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3400" y="2969895"/>
            <a:ext cx="61722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3122295"/>
            <a:ext cx="29591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7300" y="3122295"/>
            <a:ext cx="29083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States with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7300" y="3379470"/>
            <a:ext cx="29083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Sep 2026, Electric Choice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4339590"/>
            <a:ext cx="61722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" y="4491990"/>
            <a:ext cx="29591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NY Executive Order 62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7300" y="4491990"/>
            <a:ext cx="29083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Statewide moratorium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7300" y="4749165"/>
            <a:ext cx="29083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Jul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400" y="4999990"/>
            <a:ext cx="61722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1. Moratorium counts, Electric Choice, September 2026; New York Executive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 62, July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39000" y="1587500"/>
            <a:ext cx="4648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 selectors and developers triage US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greenfield sites before spending on legal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and interconnection queues.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39000" y="259715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Listing tools (Acres.com, Cherre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DataCenter Intel, LightBox, Transect,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C&amp;W Athena) list rules and scores but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 not reason about whether a rule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applies to a site.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417830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SiteWhy answers the harder question: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which rules apply to this site at this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MW, with the quote, the threshold math,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 the flips that would change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verdict.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 problem statement; judging evidence impact.md</a:t>
            </a:r>
            <a:endParaRPr lang="en-US" sz="900" dirty="0"/>
          </a:p>
        </p:txBody>
      </p:sp>
      <p:sp>
        <p:nvSpPr>
          <p:cNvPr id="20" name="title@top-plain-larg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center moratoria and the</a:t>
            </a:r>
            <a:endParaRPr lang="en-US" sz="36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site-selection bottleneck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image-split"/>
          <p:cNvSpPr/>
          <p:nvPr/>
        </p:nvSpPr>
        <p:spPr>
          <a:xfrm>
            <a:off x="304800" y="1397000"/>
            <a:ext cx="11582400" cy="38100"/>
          </a:xfrm>
          <a:prstGeom prst="rect">
            <a:avLst/>
          </a:prstGeom>
          <a:solidFill>
            <a:srgbClr val="15131A"/>
          </a:solidFill>
          <a:ln/>
        </p:spPr>
      </p:sp>
      <p:sp>
        <p:nvSpPr>
          <p:cNvPr id="3" name="Shape 1"/>
          <p:cNvSpPr/>
          <p:nvPr/>
        </p:nvSpPr>
        <p:spPr>
          <a:xfrm>
            <a:off x="9220200" y="5947410"/>
            <a:ext cx="2667000" cy="6350"/>
          </a:xfrm>
          <a:prstGeom prst="rect">
            <a:avLst/>
          </a:prstGeom>
          <a:solidFill>
            <a:srgbClr val="D4D4D8"/>
          </a:solidFill>
          <a:ln/>
        </p:spPr>
      </p:sp>
      <p:pic>
        <p:nvPicPr>
          <p:cNvPr id="4" name="Image 0" descr="SiteWhy brand visual: site, grid and rule layers over the US | Source: branding/sitewhy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531" y="1524000"/>
            <a:ext cx="7805138" cy="439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5990590"/>
            <a:ext cx="86106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1. SiteWhy brand visual: site, grid and rule layers over the US | Source: branding/sitewhy-team.png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9220200" y="16017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9398000" y="1524000"/>
            <a:ext cx="248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Verdict:</a:t>
            </a:r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go, conditional or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no-go for a US address plus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load, with the verified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text, the applicability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math, and what would change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answer.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20200" y="291623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9398000" y="2838450"/>
            <a:ext cx="248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Track:</a:t>
            </a:r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The Agent That Can Explain Why: every verdict traces to a quote plus arithmetic, never to a completion alone.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220200" y="381793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1" name="Text 8"/>
          <p:cNvSpPr/>
          <p:nvPr/>
        </p:nvSpPr>
        <p:spPr>
          <a:xfrm>
            <a:off x="9398000" y="3740150"/>
            <a:ext cx="248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Scope:</a:t>
            </a:r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federal Title V, a 1,291-entry moratorium dataset, Texas and ERCOT state and grid rules, verified county ordinances for Washington County MD and Pima County AZ.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220200" y="51323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3" name="Text 10"/>
          <p:cNvSpPr/>
          <p:nvPr/>
        </p:nvSpPr>
        <p:spPr>
          <a:xfrm>
            <a:off x="9398000" y="5054600"/>
            <a:ext cx="24892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screening tool, not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legal advice.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20200" y="6023610"/>
            <a:ext cx="26670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README; samples/*.json</a:t>
            </a:r>
            <a:endParaRPr lang="en-US" sz="900" dirty="0"/>
          </a:p>
        </p:txBody>
      </p:sp>
      <p:sp>
        <p:nvSpPr>
          <p:cNvPr id="15" name="title@bottom-anchor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Verdicts with the rule, the math and the flip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process"/>
          <p:cNvSpPr/>
          <p:nvPr/>
        </p:nvSpPr>
        <p:spPr>
          <a:xfrm>
            <a:off x="304800" y="914400"/>
            <a:ext cx="115824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4" name="Text 2"/>
          <p:cNvSpPr/>
          <p:nvPr/>
        </p:nvSpPr>
        <p:spPr>
          <a:xfrm>
            <a:off x="304800" y="1524000"/>
            <a:ext cx="195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C836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04800" y="2103120"/>
            <a:ext cx="195072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" y="2255520"/>
            <a:ext cx="1950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" y="2693670"/>
            <a:ext cx="195072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planner drafts investigation tasks per layer on Nemotron Ultra · Input: address, MW, jurisdiction match · Output: per-layer tasks for federal, state and county investigators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12720" y="1524000"/>
            <a:ext cx="195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C836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12720" y="2103120"/>
            <a:ext cx="195072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10" name="Text 8"/>
          <p:cNvSpPr/>
          <p:nvPr/>
        </p:nvSpPr>
        <p:spPr>
          <a:xfrm>
            <a:off x="2712720" y="2255520"/>
            <a:ext cx="1950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12720" y="2693670"/>
            <a:ext cx="195072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investigators gather candidate rules with quoted text · Lightning extraction; the county loop uses Markovian chunked reasoning · Output: candidate rules with quotes and source locators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524000"/>
            <a:ext cx="195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C836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120640" y="2103120"/>
            <a:ext cx="195072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255520"/>
            <a:ext cx="1950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693670"/>
            <a:ext cx="1950720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quote check plus Lightning verify_support, retry at most twice · Unverifiable claims become needs_confirmation, never fatal verdicts · Output: verified, not_found or unsupported per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28560" y="1524000"/>
            <a:ext cx="195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C836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7528560" y="2103120"/>
            <a:ext cx="195072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528560" y="2255520"/>
            <a:ext cx="1950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28560" y="2693670"/>
            <a:ext cx="195072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applicability in Python, draft verdict, critic re-investigates objections · Adjudicator and critic run on Nemotron Ultra · Output: verdict with the why-chain and the flips 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36480" y="1524000"/>
            <a:ext cx="195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C836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936480" y="2103120"/>
            <a:ext cx="195072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22" name="Text 20"/>
          <p:cNvSpPr/>
          <p:nvPr/>
        </p:nvSpPr>
        <p:spPr>
          <a:xfrm>
            <a:off x="9936480" y="2255520"/>
            <a:ext cx="1950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36480" y="2693670"/>
            <a:ext cx="1950720" cy="22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every message is a typed event in the shared World Model log; one run at a time with a 5-minute cooperative deadline · The log streams to the UI lanes with the model and receipt per request · Output: model_trace, markovian_runs and events in every sample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 architecture; app/orchestrator.py; app/llm.py</a:t>
            </a:r>
            <a:endParaRPr lang="en-US" sz="900" dirty="0"/>
          </a:p>
        </p:txBody>
      </p:sp>
      <p:sp>
        <p:nvSpPr>
          <p:cNvPr id="25" name="title@top-rul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workflow from address to verdict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table-insight"/>
          <p:cNvSpPr/>
          <p:nvPr/>
        </p:nvSpPr>
        <p:spPr>
          <a:xfrm>
            <a:off x="304800" y="914400"/>
            <a:ext cx="115824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524000"/>
          <a:ext cx="11582400" cy="2637790"/>
        </p:xfrm>
        <a:graphic>
          <a:graphicData uri="http://schemas.openxmlformats.org/drawingml/2006/table">
            <a:tbl>
              <a:tblPr/>
              <a:tblGrid>
                <a:gridCol w="1137557"/>
                <a:gridCol w="10444843"/>
              </a:tblGrid>
              <a:tr h="354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Choice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FastAPI and uvicorn; SAMPLE_MODE serves the recorded showcase reports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Zetaris SITEWHY tables; DuckDB serves the same SQL when unreachable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provider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Meterless Nightshift for every model call, with a per-request receipt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Nemotron Lightning 30B for extraction and verification; Nemotron Ultra 550B for planning and critique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World Model provenance log; Markovian county reasoning loop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800" y="4237990"/>
            <a:ext cx="115824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2. Stack as shipped, October 2026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4800" y="50307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482600" y="4953000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run at a time; a run past its 5-minute deadline returns a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partial needs_confirmation report instead of hanging.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8400" y="50307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6426200" y="4953000"/>
            <a:ext cx="5461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local GPU needed; Python 3.12 with uv.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README; app/llm.py STEP_MODELS; app/data.py</a:t>
            </a:r>
            <a:endParaRPr lang="en-US" sz="900" dirty="0"/>
          </a:p>
        </p:txBody>
      </p:sp>
      <p:sp>
        <p:nvSpPr>
          <p:cNvPr id="11" name="title@top-rul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stack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kpi-row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524000"/>
          <a:ext cx="11582400" cy="1522095"/>
        </p:xfrm>
        <a:graphic>
          <a:graphicData uri="http://schemas.openxmlformats.org/drawingml/2006/table">
            <a:tbl>
              <a:tblPr/>
              <a:tblGrid>
                <a:gridCol w="4028661"/>
                <a:gridCol w="4028661"/>
                <a:gridCol w="3525078"/>
              </a:tblGrid>
              <a:tr h="354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Moratorium rows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Legislation rows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Traced model calls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1,291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Zetaris SITEWHY tables, Sep 2026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Zetaris SITEWHY tables, Sep 2026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model_trace across 5 samples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04800" y="3122295"/>
            <a:ext cx="115824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3. Zetaris seed tables and recorded model usage, October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04800" y="4232592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6" name="Text 3"/>
          <p:cNvSpPr/>
          <p:nvPr/>
        </p:nvSpPr>
        <p:spPr>
          <a:xfrm>
            <a:off x="482600" y="4154805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Nightshift is the primary AI provider; model and compute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receipt per request appear in the UI agent lanes.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4800" y="4797742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8" name="Text 5"/>
          <p:cNvSpPr/>
          <p:nvPr/>
        </p:nvSpPr>
        <p:spPr>
          <a:xfrm>
            <a:off x="482600" y="4719955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World Model: a shared provenance-stamped rule graph with a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per-run JSONL audit log.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8400" y="4232592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0" name="Text 7"/>
          <p:cNvSpPr/>
          <p:nvPr/>
        </p:nvSpPr>
        <p:spPr>
          <a:xfrm>
            <a:off x="6426200" y="4154805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Markovian: bounded-context chunked county investigation,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conformance-tested; current single-chunk sources save 0 tokens.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8400" y="4797742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2" name="Text 9"/>
          <p:cNvSpPr/>
          <p:nvPr/>
        </p:nvSpPr>
        <p:spPr>
          <a:xfrm>
            <a:off x="6426200" y="4719955"/>
            <a:ext cx="5461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Cursor: &lt;to confirm&gt;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 sponsor tech; samples/*.json model_trace</a:t>
            </a:r>
            <a:endParaRPr lang="en-US" sz="900" dirty="0"/>
          </a:p>
        </p:txBody>
      </p:sp>
      <p:sp>
        <p:nvSpPr>
          <p:cNvPr id="14" name="title@top-plain-larg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72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Zetaris and Meterless integration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comparison"/>
          <p:cNvSpPr/>
          <p:nvPr/>
        </p:nvSpPr>
        <p:spPr>
          <a:xfrm>
            <a:off x="304800" y="1962150"/>
            <a:ext cx="56388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6248400" y="1962150"/>
            <a:ext cx="56388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4" name="Shape 2"/>
          <p:cNvSpPr/>
          <p:nvPr/>
        </p:nvSpPr>
        <p:spPr>
          <a:xfrm>
            <a:off x="304800" y="298450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" y="400685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6" name="Shape 4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" y="1524000"/>
            <a:ext cx="5638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Rule-listing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48400" y="1524000"/>
            <a:ext cx="5638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SiteWhy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4800" y="2190750"/>
            <a:ext cx="5638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 rules and scores for an area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8400" y="2190750"/>
            <a:ext cx="5638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 propose candidate rules; Python decides applies yes or 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4800" y="3213100"/>
            <a:ext cx="5638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Leave the applicability question to the reader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48400" y="3213100"/>
            <a:ext cx="5638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Each claim carries the verbatim quote, source URL and as-of 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800" y="4235450"/>
            <a:ext cx="5638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no record of which model said what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48400" y="4235450"/>
            <a:ext cx="56388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Computed flips show what would change the verdict; the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re-investigates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4800" y="5539423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" y="5461635"/>
            <a:ext cx="114046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 propose, deterministic code disposes, so every verdict traces to a quote plus arithmetic.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README; judging evidence why.md and tech.md</a:t>
            </a:r>
            <a:endParaRPr lang="en-US" sz="900" dirty="0"/>
          </a:p>
        </p:txBody>
      </p:sp>
      <p:sp>
        <p:nvSpPr>
          <p:cNvPr id="18" name="title@top-plain-larg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checks</a:t>
            </a:r>
            <a:endParaRPr lang="en-US" sz="36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between model calls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kpi-row"/>
          <p:cNvSpPr/>
          <p:nvPr/>
        </p:nvSpPr>
        <p:spPr>
          <a:xfrm>
            <a:off x="304800" y="914400"/>
            <a:ext cx="115824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524000"/>
          <a:ext cx="11582400" cy="1522095"/>
        </p:xfrm>
        <a:graphic>
          <a:graphicData uri="http://schemas.openxmlformats.org/drawingml/2006/table">
            <a:tbl>
              <a:tblPr/>
              <a:tblGrid>
                <a:gridCol w="3232298"/>
                <a:gridCol w="3681228"/>
                <a:gridCol w="2962940"/>
                <a:gridCol w="1705935"/>
              </a:tblGrid>
              <a:tr h="354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Ground truth sites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Seeded critic faults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Recorded samples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Test suite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/ 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/ 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153 passed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Washington MD, Abilene TX, Tucson AZ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fatal-pima, title-v, washington-exemption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at 300 MW plus Abilene at 50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pytest, 27 Oct 2026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800" y="3122295"/>
            <a:ext cx="115824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4. data/eval/results.json; samples/*.json; pytest run 2026-10-27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4800" y="4080193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482600" y="4002405"/>
            <a:ext cx="84328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Markovian saved 0 tokens on current sources; the engine and its accounting are implemented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 tested.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4800" y="4569142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482600" y="4491355"/>
            <a:ext cx="8432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rules are curated with runtime-verified quotes; autonomous rule discovery is roadmap.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4800" y="485171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1" name="Text 8"/>
          <p:cNvSpPr/>
          <p:nvPr/>
        </p:nvSpPr>
        <p:spPr>
          <a:xfrm>
            <a:off x="482600" y="4773930"/>
            <a:ext cx="84328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 is modelled for Texas and ERCOT plus two counties; other states get a federal-only report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an explicit scope note.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data/eval/results.json; README limitations</a:t>
            </a:r>
            <a:endParaRPr lang="en-US" sz="900" dirty="0"/>
          </a:p>
        </p:txBody>
      </p:sp>
      <p:sp>
        <p:nvSpPr>
          <p:cNvPr id="13" name="title@top-rul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and honest limits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image-split"/>
          <p:cNvSpPr/>
          <p:nvPr/>
        </p:nvSpPr>
        <p:spPr>
          <a:xfrm>
            <a:off x="304800" y="1397000"/>
            <a:ext cx="11582400" cy="38100"/>
          </a:xfrm>
          <a:prstGeom prst="rect">
            <a:avLst/>
          </a:prstGeom>
          <a:solidFill>
            <a:srgbClr val="1513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5947410"/>
            <a:ext cx="3657600" cy="6350"/>
          </a:xfrm>
          <a:prstGeom prst="rect">
            <a:avLst/>
          </a:prstGeom>
          <a:solidFill>
            <a:srgbClr val="D4D4D8"/>
          </a:solidFill>
          <a:ln/>
        </p:spPr>
      </p:sp>
      <p:pic>
        <p:nvPicPr>
          <p:cNvPr id="4" name="Image 0" descr="Recorded no-go report: county moratorium with verified quote and applicability math | Source: app screenshot, 27 Oct 2026, 1440x8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662" y="1524000"/>
            <a:ext cx="7482276" cy="4208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5808980"/>
            <a:ext cx="76200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2. Recorded no-go report: county moratorium with verified quote and applicability math | Source: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 screenshot, 27 Oct 2026, 1440x810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0" y="16351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8483600" y="1524000"/>
            <a:ext cx="34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Finding: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Washington County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unincorporated at 300 MW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no-go under county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moratorium ORD-2026-12.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0" y="28543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8483600" y="2743200"/>
            <a:ext cx="340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verbatim quote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a verified badge,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duration and primary source,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then the in-effect check and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applies-to-site result.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435927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1" name="Text 8"/>
          <p:cNvSpPr/>
          <p:nvPr/>
        </p:nvSpPr>
        <p:spPr>
          <a:xfrm>
            <a:off x="8483600" y="4248150"/>
            <a:ext cx="34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Badge: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showcase reports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carry a Recorded run mark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the UTC date; live runs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carry none.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0" y="6023610"/>
            <a:ext cx="36576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samples/md-washington-county-unincorporated.json</a:t>
            </a:r>
            <a:endParaRPr lang="en-US" sz="900" dirty="0"/>
          </a:p>
        </p:txBody>
      </p:sp>
      <p:sp>
        <p:nvSpPr>
          <p:cNvPr id="13" name="title@bottom-anchor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no-go with its verified rule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image-split"/>
          <p:cNvSpPr/>
          <p:nvPr/>
        </p:nvSpPr>
        <p:spPr>
          <a:xfrm>
            <a:off x="304800" y="1397000"/>
            <a:ext cx="11582400" cy="38100"/>
          </a:xfrm>
          <a:prstGeom prst="rect">
            <a:avLst/>
          </a:prstGeom>
          <a:solidFill>
            <a:srgbClr val="1513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5947410"/>
            <a:ext cx="3657600" cy="6350"/>
          </a:xfrm>
          <a:prstGeom prst="rect">
            <a:avLst/>
          </a:prstGeom>
          <a:solidFill>
            <a:srgbClr val="D4D4D8"/>
          </a:solidFill>
          <a:ln/>
        </p:spPr>
      </p:sp>
      <p:pic>
        <p:nvPicPr>
          <p:cNvPr id="4" name="Image 0" descr="Recorded conditional report: the same county gives a different answer inside city limits | Source: app screenshot, 27 Oct 2026, 1440x8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662" y="1524000"/>
            <a:ext cx="7482276" cy="4208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5808980"/>
            <a:ext cx="76200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3. Recorded conditional report: the same county gives a different answer inside city limits |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app screenshot, 27 Oct 2026, 1440x810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0" y="16351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8483600" y="1524000"/>
            <a:ext cx="34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Flip: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the Hagerstown city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 is conditional because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county ordinance does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 cover the city.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0" y="28543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8483600" y="2743200"/>
            <a:ext cx="340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Math: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the flips table shows that at 25 MW instead of 300 MW the Title V finding changes yes to no, with estimate badges on computed lines.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435927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1" name="Text 8"/>
          <p:cNvSpPr/>
          <p:nvPr/>
        </p:nvSpPr>
        <p:spPr>
          <a:xfrm>
            <a:off x="8483600" y="4248150"/>
            <a:ext cx="340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scope flip is the headline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demo leads with.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0" y="6023610"/>
            <a:ext cx="36576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samples/md-hagerstown-city.json</a:t>
            </a:r>
            <a:endParaRPr lang="en-US" sz="900" dirty="0"/>
          </a:p>
        </p:txBody>
      </p:sp>
      <p:sp>
        <p:nvSpPr>
          <p:cNvPr id="13" name="title@bottom-anchor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Incorporated city versus unincorporated county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image-split"/>
          <p:cNvSpPr/>
          <p:nvPr/>
        </p:nvSpPr>
        <p:spPr>
          <a:xfrm>
            <a:off x="304800" y="1397000"/>
            <a:ext cx="11582400" cy="38100"/>
          </a:xfrm>
          <a:prstGeom prst="rect">
            <a:avLst/>
          </a:prstGeom>
          <a:solidFill>
            <a:srgbClr val="1513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5947410"/>
            <a:ext cx="3657600" cy="6350"/>
          </a:xfrm>
          <a:prstGeom prst="rect">
            <a:avLst/>
          </a:prstGeom>
          <a:solidFill>
            <a:srgbClr val="D4D4D8"/>
          </a:solidFill>
          <a:ln/>
        </p:spPr>
      </p:sp>
      <p:pic>
        <p:nvPicPr>
          <p:cNvPr id="4" name="Image 0" descr="Model trace: role, Nemotron model, compute receipt and latency per call | Source: app screenshot, 27 Oct 2026, 1440x8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662" y="1524000"/>
            <a:ext cx="7482276" cy="4208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5808980"/>
            <a:ext cx="76200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4. Model trace: role, Nemotron model, compute receipt and latency per call | Source: app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screenshot, 27 Oct 2026, 1440x810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0" y="16351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8483600" y="1524000"/>
            <a:ext cx="34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each row names the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role, the Nemotron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model, the compute receipt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 the latency.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0" y="28543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8483600" y="2743200"/>
            <a:ext cx="340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Roles: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Lightning handles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extraction and verification;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Ultra handles planning,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synthesis and critique.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4073525"/>
            <a:ext cx="63500" cy="635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11" name="Text 8"/>
          <p:cNvSpPr/>
          <p:nvPr/>
        </p:nvSpPr>
        <p:spPr>
          <a:xfrm>
            <a:off x="8483600" y="3962400"/>
            <a:ext cx="3403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traced calls across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samples: 18 Ultra and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Lightning.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0" y="6023610"/>
            <a:ext cx="36576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samples/*.json model_trace; README evaluation</a:t>
            </a:r>
            <a:endParaRPr lang="en-US" sz="900" dirty="0"/>
          </a:p>
        </p:txBody>
      </p:sp>
      <p:sp>
        <p:nvSpPr>
          <p:cNvPr id="13" name="title@bottom-anchor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Every model call on the record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table-insight"/>
          <p:cNvSpPr/>
          <p:nvPr/>
        </p:nvSpPr>
        <p:spPr>
          <a:xfrm>
            <a:off x="304800" y="914400"/>
            <a:ext cx="115824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524000"/>
          <a:ext cx="11582400" cy="2574290"/>
        </p:xfrm>
        <a:graphic>
          <a:graphicData uri="http://schemas.openxmlformats.org/drawingml/2006/table">
            <a:tbl>
              <a:tblPr/>
              <a:tblGrid>
                <a:gridCol w="4179216"/>
                <a:gridCol w="6089715"/>
                <a:gridCol w="1313468"/>
              </a:tblGrid>
              <a:tr h="354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Sample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Input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Verdict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md-washington-county-unincorporated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13820 Pennsylvania Ave, Hagerstown MD 21742, 300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no-go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md-hagerstown-city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 W Washington St, Hagerstown MD 21740, 300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conditional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tx-abilene-ercot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555 Walnut St, Abilene TX 79601, 300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conditional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tx-abilene-ercot-50mw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 Abilene address, 50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conditional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az-tucson-pima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255 W Alameda St, Tucson AZ 85701, 300 MW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conditional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800" y="4174490"/>
            <a:ext cx="115824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5. samples/*.json, recorded 25 Oct 2026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4800" y="46624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482600" y="4584700"/>
            <a:ext cx="546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Four sites at 300 MW plus a 50 MW contrast at the same address;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verdicts match the data/eval ground truth on the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checked sites.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8400" y="46624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6426200" y="4584700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Each sample carries model_trace with the model per request,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plus markovian_runs and events.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samples/*.json</a:t>
            </a:r>
            <a:endParaRPr lang="en-US" sz="900" dirty="0"/>
          </a:p>
        </p:txBody>
      </p:sp>
      <p:sp>
        <p:nvSpPr>
          <p:cNvPr id="11" name="title@top-rul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Recorded samples and verdicts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mily@table-insight"/>
          <p:cNvSpPr/>
          <p:nvPr/>
        </p:nvSpPr>
        <p:spPr>
          <a:xfrm>
            <a:off x="304800" y="914400"/>
            <a:ext cx="11582400" cy="9525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5947410"/>
            <a:ext cx="11582400" cy="6350"/>
          </a:xfrm>
          <a:prstGeom prst="rect">
            <a:avLst/>
          </a:prstGeom>
          <a:solidFill>
            <a:srgbClr val="D4D4D8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524000"/>
          <a:ext cx="11582400" cy="2637790"/>
        </p:xfrm>
        <a:graphic>
          <a:graphicData uri="http://schemas.openxmlformats.org/drawingml/2006/table">
            <a:tbl>
              <a:tblPr/>
              <a:tblGrid>
                <a:gridCol w="3948545"/>
                <a:gridCol w="7633855"/>
              </a:tblGrid>
              <a:tr h="354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Enhancement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Why it matters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 rule discovery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Replace curated seed rules with runtime-verified discovery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More states and ISO rules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Extend beyond Texas and ERCOT plus two counties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Quote-to-value alignment check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Verify the numbers, not just quote presence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Multi-chunk Markovian demo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token savings on larger sources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Dockerfile judge path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One-command sample-mode run for judges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800" y="4237990"/>
            <a:ext cx="115824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6. Roadmap as of 27 Oct 2026; none of this changes the recorded verdicts above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4800" y="50307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7" name="Text 4"/>
          <p:cNvSpPr/>
          <p:nvPr/>
        </p:nvSpPr>
        <p:spPr>
          <a:xfrm>
            <a:off x="482600" y="4953000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scope stays honest: no accuracy claims beyond the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measured 3/3 ground truth and 3/3 seeded faults.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8400" y="5030788"/>
            <a:ext cx="50800" cy="50800"/>
          </a:xfrm>
          <a:prstGeom prst="rect">
            <a:avLst/>
          </a:prstGeom>
          <a:solidFill>
            <a:srgbClr val="C8361A"/>
          </a:solidFill>
          <a:ln/>
        </p:spPr>
      </p:sp>
      <p:sp>
        <p:nvSpPr>
          <p:cNvPr id="9" name="Text 6"/>
          <p:cNvSpPr/>
          <p:nvPr/>
        </p:nvSpPr>
        <p:spPr>
          <a:xfrm>
            <a:off x="6426200" y="4953000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Pre-window datasets and the Meterless specs are declared as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pre-existing third-party material.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4800" y="6023610"/>
            <a:ext cx="11582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plans/m4-submission.md; README limitations</a:t>
            </a:r>
            <a:endParaRPr lang="en-US" sz="900" dirty="0"/>
          </a:p>
        </p:txBody>
      </p:sp>
      <p:sp>
        <p:nvSpPr>
          <p:cNvPr id="11" name="title@top-rule"/>
          <p:cNvSpPr/>
          <p:nvPr/>
        </p:nvSpPr>
        <p:spPr>
          <a:xfrm>
            <a:off x="304800" y="457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spc="-26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Planned enhancements and current scope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pport@statement"/>
          <p:cNvSpPr/>
          <p:nvPr/>
        </p:nvSpPr>
        <p:spPr>
          <a:xfrm>
            <a:off x="304800" y="4724400"/>
            <a:ext cx="7620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Track: The Agent That Can Explain Why. Solo team SiteWhy. Every verdict traces to a</a:t>
            </a:r>
            <a:endParaRPr lang="en-US" sz="1300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quote plus arithmetic.</a:t>
            </a:r>
            <a:endParaRPr lang="en-US" sz="1300" dirty="0"/>
          </a:p>
        </p:txBody>
      </p:sp>
      <p:sp>
        <p:nvSpPr>
          <p:cNvPr id="3" name="title@statement"/>
          <p:cNvSpPr/>
          <p:nvPr/>
        </p:nvSpPr>
        <p:spPr>
          <a:xfrm>
            <a:off x="304800" y="1676400"/>
            <a:ext cx="861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120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track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120" kern="0" dirty="0">
                <a:solidFill>
                  <a:srgbClr val="151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 the team</a:t>
            </a:r>
            <a:endParaRPr lang="en-US" sz="6000" dirty="0"/>
          </a:p>
        </p:txBody>
      </p:sp>
      <p:sp>
        <p:nvSpPr>
          <p:cNvPr id="4" name="family@closing-statement"/>
          <p:cNvSpPr/>
          <p:nvPr/>
        </p:nvSpPr>
        <p:spPr>
          <a:xfrm>
            <a:off x="304800" y="457200"/>
            <a:ext cx="0" cy="0"/>
          </a:xfrm>
          <a:prstGeom prst="rect">
            <a:avLst/>
          </a:prstGeom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SiteWhy</dc:title>
  <dc:subject>lit-pptx tonality=signal density=10 grid=compact variance=6</dc:subject>
  <dc:creator>PptxGenJS</dc:creator>
  <cp:lastModifiedBy>PptxGenJS</cp:lastModifiedBy>
  <cp:revision>1</cp:revision>
  <dcterms:created xsi:type="dcterms:W3CDTF">2026-10-27T03:33:23Z</dcterms:created>
  <dcterms:modified xsi:type="dcterms:W3CDTF">2026-10-27T03:33:23Z</dcterms:modified>
</cp:coreProperties>
</file>