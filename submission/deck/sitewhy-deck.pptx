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embeddedFontLst>
    <p:embeddedFont>
      <p:font typeface="Pretendard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ver-typographic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3" name="header@cover"/>
          <p:cNvSpPr/>
          <p:nvPr/>
        </p:nvSpPr>
        <p:spPr>
          <a:xfrm>
            <a:off x="304800" y="4572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2026-10-27</a:t>
            </a:r>
            <a:endParaRPr lang="en-US" sz="1100" dirty="0"/>
          </a:p>
        </p:txBody>
      </p:sp>
      <p:sp>
        <p:nvSpPr>
          <p:cNvPr id="4" name="title@cover"/>
          <p:cNvSpPr/>
          <p:nvPr/>
        </p:nvSpPr>
        <p:spPr>
          <a:xfrm>
            <a:off x="304800" y="1828800"/>
            <a:ext cx="86106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tells a data center developer whether a US site is blocked — and proves why,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verified rule, the math and what would change it. Track: The Agent That Can Explain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Why. Solo team SiteWhy.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Blocked or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not, and why</a:t>
            </a:r>
            <a:endParaRPr lang="en-US" sz="6000" dirty="0"/>
          </a:p>
        </p:txBody>
      </p:sp>
      <p:sp>
        <p:nvSpPr>
          <p:cNvPr id="4" name="family@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big-number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1524000"/>
            <a:ext cx="6629400" cy="414401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4" name="Text 2"/>
          <p:cNvSpPr/>
          <p:nvPr/>
        </p:nvSpPr>
        <p:spPr>
          <a:xfrm>
            <a:off x="533400" y="175260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797300" y="175260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Moratoria or restrictions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797300" y="200977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33400" y="2969895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33400" y="3122295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7300" y="3122295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States with limits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7300" y="3379470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Sep 2026, Electric Choice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3400" y="4339590"/>
            <a:ext cx="6172200" cy="95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3400" y="4491990"/>
            <a:ext cx="29591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spc="-36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NY Executive Order 62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97300" y="4491990"/>
            <a:ext cx="29083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Statewide moratorium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7300" y="4749165"/>
            <a:ext cx="29083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Jul 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3400" y="4999990"/>
            <a:ext cx="61722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1. Moratorium counts, Electric Choice, September 2026; New York Executive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 62, July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39000" y="1587500"/>
            <a:ext cx="4648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selectors and developers triage US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greenfield sites before spending on legal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and interconnection queues.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39000" y="259715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Listing tools (Acres.com, Cherre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DataCenter Intel, LightBox, Transect,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C&amp;W Athena) list rules and scores but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not reason about whether a rule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 to a site.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39000" y="41783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 answers the harder question: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which rules apply to this site at this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MW, with the quote, the threshold math,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flips that would change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verdict.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 problem statement; judging evidence impact.md</a:t>
            </a:r>
            <a:endParaRPr lang="en-US" sz="900" dirty="0"/>
          </a:p>
        </p:txBody>
      </p:sp>
      <p:sp>
        <p:nvSpPr>
          <p:cNvPr id="20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center moratoria and the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site-selection bottleneck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9220200" y="5947410"/>
            <a:ext cx="26670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SiteWhy brand visual: site, grid and rule layers over the US | Source: branding/sitewhy-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531" y="1524000"/>
            <a:ext cx="7805138" cy="43903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990590"/>
            <a:ext cx="86106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1. SiteWhy brand visual: site, grid and rule layers over the US | Source: branding/sitewhy-team.png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220200" y="1601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9398000" y="1524000"/>
            <a:ext cx="248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go, conditional or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no-go for a US address plus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load, with the verified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text, the applicability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math, and what would change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answer.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220200" y="29162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9398000" y="2838450"/>
            <a:ext cx="24892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Agent That Can Explain Why: every verdict traces to a quote plus arithmetic, never to a completion alone.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220200" y="38179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9398000" y="3740150"/>
            <a:ext cx="248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Scope:</a:t>
            </a:r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federal Title V, a 1,291-entry moratorium dataset, Texas and ERCOT state and grid rules, verified county ordinances for Washington County MD and Pima County AZ.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220200" y="51323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3" name="Text 10"/>
          <p:cNvSpPr/>
          <p:nvPr/>
        </p:nvSpPr>
        <p:spPr>
          <a:xfrm>
            <a:off x="9398000" y="5054600"/>
            <a:ext cx="24892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screening tool, not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 advice.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220200" y="6023610"/>
            <a:ext cx="2667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samples/*.json</a:t>
            </a:r>
            <a:endParaRPr lang="en-US" sz="900" dirty="0"/>
          </a:p>
        </p:txBody>
      </p:sp>
      <p:sp>
        <p:nvSpPr>
          <p:cNvPr id="15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Verdicts with the rule, the math and the flip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process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Text 2"/>
          <p:cNvSpPr/>
          <p:nvPr/>
        </p:nvSpPr>
        <p:spPr>
          <a:xfrm>
            <a:off x="30480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0480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Text 4"/>
          <p:cNvSpPr/>
          <p:nvPr/>
        </p:nvSpPr>
        <p:spPr>
          <a:xfrm>
            <a:off x="30480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4800" y="2614295"/>
            <a:ext cx="195072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planner drafts targeted tasks per layer on Nemotron Ultra · Input: site, MW, jurisdiction match, prior critic objections · Output: federal, state and county investigator tasks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1272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71272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0" name="Text 8"/>
          <p:cNvSpPr/>
          <p:nvPr/>
        </p:nvSpPr>
        <p:spPr>
          <a:xfrm>
            <a:off x="271272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Investigate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1272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layer investigators gather candidate rules with quoted text · Lightning extraction; the county loop uses Markovian chunked reasoning · Output: candidate rules with quotes and source locators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512064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2614295"/>
            <a:ext cx="1950720" cy="185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quote check plus Lightning verify_support, retry at most twice · Unverifiable claims become needs_confirmation, never fatal verdicts · Output: verified, not_found or unsupported per claim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52856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752856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18" name="Text 16"/>
          <p:cNvSpPr/>
          <p:nvPr/>
        </p:nvSpPr>
        <p:spPr>
          <a:xfrm>
            <a:off x="752856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28560" y="2614295"/>
            <a:ext cx="195072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applicability decides yes or no; the adjudicator drafts the verdict · The adjudicator runs on Nemotron Ultra · Output: draft verdict with the why-chain and the flips table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36480" y="1524000"/>
            <a:ext cx="195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C836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9936480" y="2103120"/>
            <a:ext cx="195072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22" name="Text 20"/>
          <p:cNvSpPr/>
          <p:nvPr/>
        </p:nvSpPr>
        <p:spPr>
          <a:xfrm>
            <a:off x="9936480" y="2255520"/>
            <a:ext cx="19507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and trace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36480" y="2614295"/>
            <a:ext cx="195072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red-team objections loop back to the planner for round 2 · New investigator and verifier passes target the objections; every message is a typed event in the World Model log · Unresolved objections become needs_confirmation; UI lanes show the model and receipt per request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04800" y="533304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2600" y="5255260"/>
            <a:ext cx="114046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Real loop in Washington County MD: the critic rejected the draft six-month expiry, round 2 re-investigated, and the expiry ships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 needs_confirmation.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md-washington-county-unincorporated.json (events, catches, needs_confirmation[0]); app/orchestrator.py</a:t>
            </a:r>
            <a:endParaRPr lang="en-US" sz="900" dirty="0"/>
          </a:p>
        </p:txBody>
      </p:sp>
      <p:sp>
        <p:nvSpPr>
          <p:cNvPr id="27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workflow as a loop, not a chain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332355"/>
        </p:xfrm>
        <a:graphic>
          <a:graphicData uri="http://schemas.openxmlformats.org/drawingml/2006/table">
            <a:tbl>
              <a:tblPr/>
              <a:tblGrid>
                <a:gridCol w="843751"/>
                <a:gridCol w="10738649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Choice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FastAPI and uvicorn; SAMPLE_MODE runs the real agents on cached model responses, sources and geocodes, no keys, Zetaris or Nightshift needed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Zetaris SITEWHY tables; DuckDB serves the same SQL when unreachable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provider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Meterless Nightshift for every model call, with a per-request receipt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Nemotron Lightning 30B for extraction and verification; Nemotron Ultra 550B for planning and critique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World Model provenance log; Markovian county reasoning loop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93255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2. Stack as shipped, October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42055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34276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run at a time; a run past its 5-minute deadline returns a partial needs_confirmation report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instead of hanging.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90950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831715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local GPU needed; Python 3.12 with uv.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519207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511429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Programmatic entry: python run.py --input input_examples/&lt;site&gt;.json --sample, with per-event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traces in logs/*.jsonl.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app/llm.py STEP_MODELS; app/data.py; run.py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Technical stack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699260"/>
        </p:xfrm>
        <a:graphic>
          <a:graphicData uri="http://schemas.openxmlformats.org/drawingml/2006/table">
            <a:tbl>
              <a:tblPr/>
              <a:tblGrid>
                <a:gridCol w="2415961"/>
                <a:gridCol w="4760864"/>
                <a:gridCol w="440557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rows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Source tables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 and quality queries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08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1,291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plus 1 PASS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7734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usl_site_screen,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materialized join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moratoria 1,291; legislation 440; curated rules 3; county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sources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 exploratory plus 3 USL queries; null_join_keys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 violations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04800" y="329946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3. zetaris/usl.sql and zetaris/evidence/, committed f0f2b9b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04800" y="378745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6" name="Text 3"/>
          <p:cNvSpPr/>
          <p:nvPr/>
        </p:nvSpPr>
        <p:spPr>
          <a:xfrm>
            <a:off x="482600" y="3709670"/>
            <a:ext cx="5461000" cy="1031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is the data layer: 4 seed tables registered from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data/seed CSVs join jurisdiction to moratoria, bills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curated rules in usl_site_screen, materialized because plain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views do not persist on this instance; DuckDB serves the same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when unreachable.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04800" y="489553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8" name="Text 5"/>
          <p:cNvSpPr/>
          <p:nvPr/>
        </p:nvSpPr>
        <p:spPr>
          <a:xfrm>
            <a:off x="482600" y="4817745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Meterless Nightshift is the primary AI provider; model and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 receipt per request appear in the UI agent lanes.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8400" y="378745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0" name="Text 7"/>
          <p:cNvSpPr/>
          <p:nvPr/>
        </p:nvSpPr>
        <p:spPr>
          <a:xfrm>
            <a:off x="6426200" y="3709670"/>
            <a:ext cx="5461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World Model shared provenance log with a per-run JSONL audit;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Markovian chunked county loop, conformance-tested, with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 tokens saved on current single-chunk sources.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48400" y="448278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2" name="Text 9"/>
          <p:cNvSpPr/>
          <p:nvPr/>
        </p:nvSpPr>
        <p:spPr>
          <a:xfrm>
            <a:off x="6426200" y="4404995"/>
            <a:ext cx="54610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Cursor: &lt;to confirm&gt;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zetaris/usl.sql; zetaris/evidence/registration.json, run.json, dq_rule.json; zetaris/REFLECTION.md</a:t>
            </a:r>
            <a:endParaRPr lang="en-US" sz="900" dirty="0"/>
          </a:p>
        </p:txBody>
      </p:sp>
      <p:sp>
        <p:nvSpPr>
          <p:cNvPr id="14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Zetaris and Meterless integration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comparison"/>
          <p:cNvSpPr/>
          <p:nvPr/>
        </p:nvSpPr>
        <p:spPr>
          <a:xfrm>
            <a:off x="3048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6248400" y="1962150"/>
            <a:ext cx="56388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4" name="Shape 2"/>
          <p:cNvSpPr/>
          <p:nvPr/>
        </p:nvSpPr>
        <p:spPr>
          <a:xfrm>
            <a:off x="304800" y="298450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5" name="Shape 3"/>
          <p:cNvSpPr/>
          <p:nvPr/>
        </p:nvSpPr>
        <p:spPr>
          <a:xfrm>
            <a:off x="304800" y="400685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6" name="Shape 4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7" name="Text 5"/>
          <p:cNvSpPr/>
          <p:nvPr/>
        </p:nvSpPr>
        <p:spPr>
          <a:xfrm>
            <a:off x="3048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Rule-listing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48400" y="1524000"/>
            <a:ext cx="563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SiteWhy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48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 rules and scores for an area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48400" y="21907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 candidate rules; Python decides applies yes or no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48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Leave the applicability question to the reader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48400" y="321310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claim carries the verbatim quote, source URL and as-of date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800" y="4235450"/>
            <a:ext cx="5638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no record of which model said what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48400" y="4235450"/>
            <a:ext cx="5638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Computed flips show what would change the verdict;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critic re-investigates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4800" y="553942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6" name="Text 14"/>
          <p:cNvSpPr/>
          <p:nvPr/>
        </p:nvSpPr>
        <p:spPr>
          <a:xfrm>
            <a:off x="482600" y="5461635"/>
            <a:ext cx="114046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Models propose, deterministic code disposes, so every verdict traces to a quote plus arithmetic.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README; judging evidence why.md and tech.md</a:t>
            </a:r>
            <a:endParaRPr lang="en-US" sz="900" dirty="0"/>
          </a:p>
        </p:txBody>
      </p:sp>
      <p:sp>
        <p:nvSpPr>
          <p:cNvPr id="18" name="title@top-plain-larg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Deterministic checks</a:t>
            </a:r>
            <a:endParaRPr lang="en-US" sz="36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3600" b="1" spc="-72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between model calls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kpi-row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1522095"/>
        </p:xfrm>
        <a:graphic>
          <a:graphicData uri="http://schemas.openxmlformats.org/drawingml/2006/table">
            <a:tbl>
              <a:tblPr/>
              <a:tblGrid>
                <a:gridCol w="3232298"/>
                <a:gridCol w="3681228"/>
                <a:gridCol w="2962940"/>
                <a:gridCol w="170593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Ground truth sites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Seeded critic faults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Recorded samples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suite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 / 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171 passed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83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Washington MD, Abilene TX, Tucson AZ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fatal-pima, title-v, washington-exemption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 at 300 MW plus Abilene at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pytest, 27 Oct 2026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122295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4. data/eval/results.json; samples/*.json; pytest run 2026-10-27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080193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002405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Markovian saved 0 tokens on current sources; the engine and its accounting are implemented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tested.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569142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491355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Seed rules are curated with runtime-verified quotes; autonomous rule discovery is roadmap.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485171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477393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 is modelled for Texas and ERCOT plus two counties; other states get a federal-only report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an explicit scope note.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data/eval/results.json; README limitations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Evaluation and honest limits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no-go report: county moratorium with verified quote and applicability math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2. Recorded no-go report: county moratorium with verified quote and applicability math | Source: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Finding: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Washington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 unincorporated at 300 MW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 no-go under county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moratorium ORD-2026-12.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verbatim quote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a verified badge,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duration and primary source,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then the in-effect check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applies-to-site result.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Badge: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showcase reports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a Recorded run mark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 the UTC date; live runs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carry none.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samples/md-washington-county-unincorporated.json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no-go with its verified rule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Recorded conditional report: the same county gives a different answer inside city limits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3. Recorded conditional report: the same county gives a different answer inside city limits |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app 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Flip: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Hagerstown city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site is conditional because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county ordinance does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 cover the city.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Math: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the flips table shows that at 25 MW instead of 300 MW the Title V finding changes yes to no, with estimate badges on computed lines.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35927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4248150"/>
            <a:ext cx="340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scope flip is the headline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demo leads with.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samples/md-hagerstown-city.json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Incorporated city versus unincorporated county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image-split"/>
          <p:cNvSpPr/>
          <p:nvPr/>
        </p:nvSpPr>
        <p:spPr>
          <a:xfrm>
            <a:off x="304800" y="1397000"/>
            <a:ext cx="11582400" cy="38100"/>
          </a:xfrm>
          <a:prstGeom prst="rect">
            <a:avLst/>
          </a:prstGeom>
          <a:solidFill>
            <a:srgbClr val="15131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5947410"/>
            <a:ext cx="3657600" cy="6350"/>
          </a:xfrm>
          <a:prstGeom prst="rect">
            <a:avLst/>
          </a:prstGeom>
          <a:solidFill>
            <a:srgbClr val="D4D4D8"/>
          </a:solidFill>
          <a:ln/>
        </p:spPr>
      </p:sp>
      <p:pic>
        <p:nvPicPr>
          <p:cNvPr id="4" name="Image 0" descr="Model trace: role, Nemotron model, compute receipt and latency per call | Source: app screenshot, 27 Oct 2026, 1440x8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662" y="1524000"/>
            <a:ext cx="7482276" cy="42087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4800" y="5808980"/>
            <a:ext cx="76200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Figure 4. Model trace: role, Nemotron model, compute receipt and latency per call | Source: app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screenshot, 27 Oct 2026, 1440x810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6351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8483600" y="15240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Trace: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each row names the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agent role, the Nemotron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model, the compute receipt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latency.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0" y="28543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8483600" y="2743200"/>
            <a:ext cx="340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Roles:</a:t>
            </a:r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Lightning handles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extraction and verification;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Ultra handles planning,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synthesis and critique.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0" y="4073525"/>
            <a:ext cx="63500" cy="635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8483600" y="3962400"/>
            <a:ext cx="3403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traced calls across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samples: 18 Ultra and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Lightning.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0" y="6023610"/>
            <a:ext cx="3657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model_trace; README evaluation</a:t>
            </a:r>
            <a:endParaRPr lang="en-US" sz="900" dirty="0"/>
          </a:p>
        </p:txBody>
      </p:sp>
      <p:sp>
        <p:nvSpPr>
          <p:cNvPr id="13" name="title@bottom-anchor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model call on the record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129790"/>
        </p:xfrm>
        <a:graphic>
          <a:graphicData uri="http://schemas.openxmlformats.org/drawingml/2006/table">
            <a:tbl>
              <a:tblPr/>
              <a:tblGrid>
                <a:gridCol w="4179216"/>
                <a:gridCol w="6089715"/>
                <a:gridCol w="1313468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Sample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Input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md-washington-county-unincorporated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13820 Pennsylvania Ave, Hagerstown MD 21742,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no-go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md-hagerstown-city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 W Washington St, Hagerstown MD 21740,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555 Walnut St, Abilene TX 79601,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tx-abilene-ercot-50mw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Same Abilene address, 50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az-tucson-pima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 W Alameda St, Tucson AZ 85701, 300 MW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conditional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3729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5. samples/*.json, recorded 25 Oct 2026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42179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14020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Four sites at 300 MW plus a 50 MW contrast at the same address; verdicts match the data/eval ground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truth on the 3 checked sites.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04800" y="470693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482600" y="4629150"/>
            <a:ext cx="84328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Abilene 300 vs 50 MW: Title V yes both (1,067 to 185 tpy NOx); SB 6 yes to no; ERCOT audit yes to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no; verdict conditional both.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4800" y="51958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11" name="Text 8"/>
          <p:cNvSpPr/>
          <p:nvPr/>
        </p:nvSpPr>
        <p:spPr>
          <a:xfrm>
            <a:off x="482600" y="5118100"/>
            <a:ext cx="8432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Each sample carries model_trace with the model per request, plus markovian_runs and events.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samples/*.json (Title V computed.nox_tpy; SB 6 and audit applies fields)</a:t>
            </a:r>
            <a:endParaRPr lang="en-US" sz="900" dirty="0"/>
          </a:p>
        </p:txBody>
      </p:sp>
      <p:sp>
        <p:nvSpPr>
          <p:cNvPr id="13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Recorded samples and verdicts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amily@table-insight"/>
          <p:cNvSpPr/>
          <p:nvPr/>
        </p:nvSpPr>
        <p:spPr>
          <a:xfrm>
            <a:off x="304800" y="914400"/>
            <a:ext cx="11582400" cy="9525"/>
          </a:xfrm>
          <a:prstGeom prst="rect">
            <a:avLst/>
          </a:prstGeom>
          <a:solidFill>
            <a:srgbClr val="D4D4D8"/>
          </a:solidFill>
          <a:ln/>
        </p:spPr>
      </p:sp>
      <p:sp>
        <p:nvSpPr>
          <p:cNvPr id="3" name="Shape 1"/>
          <p:cNvSpPr/>
          <p:nvPr/>
        </p:nvSpPr>
        <p:spPr>
          <a:xfrm>
            <a:off x="304800" y="5947410"/>
            <a:ext cx="11582400" cy="6350"/>
          </a:xfrm>
          <a:prstGeom prst="rect">
            <a:avLst/>
          </a:prstGeom>
          <a:solidFill>
            <a:srgbClr val="D4D4D8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4800" y="1524000"/>
          <a:ext cx="11582400" cy="2637790"/>
        </p:xfrm>
        <a:graphic>
          <a:graphicData uri="http://schemas.openxmlformats.org/drawingml/2006/table">
            <a:tbl>
              <a:tblPr/>
              <a:tblGrid>
                <a:gridCol w="3948545"/>
                <a:gridCol w="7633855"/>
              </a:tblGrid>
              <a:tr h="3549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Enhancement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Why it matters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 rule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Replace curated seed rules with runtime-verified discovery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More states and ISO rules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Extend beyond Texas and ERCOT plus two counties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Quote-to-value alignment check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 the numbers, not just quote presence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Multi-chunk Markovian demo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Show token savings on larger sources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65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Dockerfile judge path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131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One-command sample-mode run for judges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04800" y="4237990"/>
            <a:ext cx="11582400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6. Roadmap as of 27 Oct 2026; none of this changes the recorded verdicts above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048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7" name="Text 4"/>
          <p:cNvSpPr/>
          <p:nvPr/>
        </p:nvSpPr>
        <p:spPr>
          <a:xfrm>
            <a:off x="4826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scope stays honest: no accuracy claims beyond the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measured 3/3 ground truth and 3/3 seeded faults.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48400" y="5030788"/>
            <a:ext cx="50800" cy="50800"/>
          </a:xfrm>
          <a:prstGeom prst="rect">
            <a:avLst/>
          </a:prstGeom>
          <a:solidFill>
            <a:srgbClr val="C8361A"/>
          </a:solidFill>
          <a:ln/>
        </p:spPr>
      </p:sp>
      <p:sp>
        <p:nvSpPr>
          <p:cNvPr id="9" name="Text 6"/>
          <p:cNvSpPr/>
          <p:nvPr/>
        </p:nvSpPr>
        <p:spPr>
          <a:xfrm>
            <a:off x="6426200" y="4953000"/>
            <a:ext cx="5461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Pre-window datasets and the Meterless specs are declared as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pre-existing third-party material.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4800" y="6023610"/>
            <a:ext cx="11582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Source: plans/m4-submission.md; README limitations</a:t>
            </a:r>
            <a:endParaRPr lang="en-US" sz="900" dirty="0"/>
          </a:p>
        </p:txBody>
      </p:sp>
      <p:sp>
        <p:nvSpPr>
          <p:cNvPr id="11" name="title@top-rule"/>
          <p:cNvSpPr/>
          <p:nvPr/>
        </p:nvSpPr>
        <p:spPr>
          <a:xfrm>
            <a:off x="304800" y="457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1" spc="-26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Planned enhancements and current scope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pport@statement"/>
          <p:cNvSpPr/>
          <p:nvPr/>
        </p:nvSpPr>
        <p:spPr>
          <a:xfrm>
            <a:off x="304800" y="4724400"/>
            <a:ext cx="762000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Track: The Agent That Can Explain Why. Solo team SiteWhy. Every verdict traces to a</a:t>
            </a:r>
            <a:endParaRPr lang="en-US" sz="1300" dirty="0"/>
          </a:p>
          <a:p>
            <a:pPr algn="l" indent="0" marL="0">
              <a:lnSpc>
                <a:spcPts val="1630"/>
              </a:lnSpc>
              <a:buNone/>
            </a:pPr>
            <a:r>
              <a:rPr lang="en-US" sz="1300" dirty="0">
                <a:solidFill>
                  <a:srgbClr val="5552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quote plus arithmetic.</a:t>
            </a:r>
            <a:endParaRPr lang="en-US" sz="1300" dirty="0"/>
          </a:p>
        </p:txBody>
      </p:sp>
      <p:sp>
        <p:nvSpPr>
          <p:cNvPr id="3" name="title@statement"/>
          <p:cNvSpPr/>
          <p:nvPr/>
        </p:nvSpPr>
        <p:spPr>
          <a:xfrm>
            <a:off x="304800" y="1676400"/>
            <a:ext cx="861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track</a:t>
            </a:r>
            <a:endParaRPr lang="en-US" sz="6000" dirty="0"/>
          </a:p>
          <a:p>
            <a:pPr algn="l" indent="0" marL="0">
              <a:lnSpc>
                <a:spcPts val="6900"/>
              </a:lnSpc>
              <a:buNone/>
            </a:pPr>
            <a:r>
              <a:rPr lang="en-US" sz="6000" b="1" spc="-120" kern="0" dirty="0">
                <a:solidFill>
                  <a:srgbClr val="151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and the team</a:t>
            </a:r>
            <a:endParaRPr lang="en-US" sz="6000" dirty="0"/>
          </a:p>
        </p:txBody>
      </p:sp>
      <p:sp>
        <p:nvSpPr>
          <p:cNvPr id="4" name="family@closing-statement"/>
          <p:cNvSpPr/>
          <p:nvPr/>
        </p:nvSpPr>
        <p:spPr>
          <a:xfrm>
            <a:off x="304800" y="457200"/>
            <a:ext cx="0" cy="0"/>
          </a:xfrm>
          <a:prstGeom prst="rect">
            <a:avLst/>
          </a:prstGeom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Pretendard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Pretendard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SiteWhy</dc:title>
  <dc:subject>lit-pptx tonality=signal density=10 grid=compact variance=6</dc:subject>
  <dc:creator>PptxGenJS</dc:creator>
  <cp:lastModifiedBy>PptxGenJS</cp:lastModifiedBy>
  <cp:revision>1</cp:revision>
  <dcterms:created xsi:type="dcterms:W3CDTF">2026-10-27T05:22:19Z</dcterms:created>
  <dcterms:modified xsi:type="dcterms:W3CDTF">2026-10-27T05:22:19Z</dcterms:modified>
</cp:coreProperties>
</file>