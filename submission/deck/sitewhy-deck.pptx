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0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embeddedFontLst>
    <p:embeddedFont>
      <p:font typeface="Pretendard"/>
      <p:regular r:id="rId22"/>
      <p:bold r:id="rId2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font" Target="fonts/font1.fntdata"/><Relationship Id="rId23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cover-typographic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3" name="header@cover"/>
          <p:cNvSpPr/>
          <p:nvPr/>
        </p:nvSpPr>
        <p:spPr>
          <a:xfrm>
            <a:off x="304800" y="4572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2026-10-27</a:t>
            </a:r>
            <a:endParaRPr lang="en-US" sz="1100" dirty="0"/>
          </a:p>
        </p:txBody>
      </p:sp>
      <p:sp>
        <p:nvSpPr>
          <p:cNvPr id="4" name="title@cover"/>
          <p:cNvSpPr/>
          <p:nvPr/>
        </p:nvSpPr>
        <p:spPr>
          <a:xfrm>
            <a:off x="304800" y="1828800"/>
            <a:ext cx="86106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6600"/>
              </a:lnSpc>
              <a:buNone/>
            </a:pPr>
            <a:r>
              <a:rPr lang="en-US" sz="6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SiteWhy</a:t>
            </a:r>
            <a:endParaRPr lang="en-US" sz="6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pport@statement"/>
          <p:cNvSpPr/>
          <p:nvPr/>
        </p:nvSpPr>
        <p:spPr>
          <a:xfrm>
            <a:off x="304800" y="4724400"/>
            <a:ext cx="7620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SiteWhy tells a data center developer whether a US site is blocked — and proves why, with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verified rule, the math and what would change it. Track: The Agent That Can Explain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Why. Solo team SiteWhy.</a:t>
            </a:r>
            <a:endParaRPr lang="en-US" sz="1300" dirty="0"/>
          </a:p>
        </p:txBody>
      </p:sp>
      <p:sp>
        <p:nvSpPr>
          <p:cNvPr id="3" name="title@statement"/>
          <p:cNvSpPr/>
          <p:nvPr/>
        </p:nvSpPr>
        <p:spPr>
          <a:xfrm>
            <a:off x="304800" y="1676400"/>
            <a:ext cx="861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900"/>
              </a:lnSpc>
              <a:buNone/>
            </a:pPr>
            <a:r>
              <a:rPr lang="en-US" sz="6000" b="1" spc="-120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Blocked or</a:t>
            </a:r>
            <a:endParaRPr lang="en-US" sz="6000" dirty="0"/>
          </a:p>
          <a:p>
            <a:pPr algn="l" indent="0" marL="0">
              <a:lnSpc>
                <a:spcPts val="6900"/>
              </a:lnSpc>
              <a:buNone/>
            </a:pPr>
            <a:r>
              <a:rPr lang="en-US" sz="6000" b="1" spc="-120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not, and why</a:t>
            </a:r>
            <a:endParaRPr lang="en-US" sz="6000" dirty="0"/>
          </a:p>
        </p:txBody>
      </p:sp>
      <p:sp>
        <p:nvSpPr>
          <p:cNvPr id="4" name="family@statement"/>
          <p:cNvSpPr/>
          <p:nvPr/>
        </p:nvSpPr>
        <p:spPr>
          <a:xfrm>
            <a:off x="304800" y="457200"/>
            <a:ext cx="0" cy="0"/>
          </a:xfrm>
          <a:prstGeom prst="rect">
            <a:avLst/>
          </a:prstGeom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big-number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1524000"/>
            <a:ext cx="6629400" cy="414401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4" name="Text 2"/>
          <p:cNvSpPr/>
          <p:nvPr/>
        </p:nvSpPr>
        <p:spPr>
          <a:xfrm>
            <a:off x="533400" y="1752600"/>
            <a:ext cx="29591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spc="-36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797300" y="1752600"/>
            <a:ext cx="29083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Moratoria or restrictions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797300" y="2009775"/>
            <a:ext cx="290830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Sep 2026, Electric Choice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33400" y="2969895"/>
            <a:ext cx="6172200" cy="95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33400" y="3122295"/>
            <a:ext cx="29591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spc="-36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797300" y="3122295"/>
            <a:ext cx="29083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States with limits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797300" y="3379470"/>
            <a:ext cx="290830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Sep 2026, Electric Choice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3400" y="4339590"/>
            <a:ext cx="6172200" cy="95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3400" y="4491990"/>
            <a:ext cx="29591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spc="-36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NY Executive Order 62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97300" y="4491990"/>
            <a:ext cx="29083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Statewide moratorium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797300" y="4749165"/>
            <a:ext cx="290830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Jul 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3400" y="4999990"/>
            <a:ext cx="61722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1. Moratorium counts, Electric Choice, September 2026; New York Executive</a:t>
            </a:r>
            <a:endParaRPr lang="en-US" sz="11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 62, July 2026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239000" y="1587500"/>
            <a:ext cx="4648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 selectors and developers triage US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greenfield sites before spending on legal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and interconnection queues.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239000" y="2597150"/>
            <a:ext cx="4648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Listing tools (Acres.com, Cherre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DataCenter Intel, LightBox, Transect,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C&amp;W Athena) list rules and scores but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 not reason about whether a rule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applies to a site.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239000" y="4178300"/>
            <a:ext cx="4648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SiteWhy answers the harder question: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which rules apply to this site at this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MW, with the quote, the threshold math,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 the flips that would change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verdict.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README problem statement; judging evidence impact.md</a:t>
            </a:r>
            <a:endParaRPr lang="en-US" sz="900" dirty="0"/>
          </a:p>
        </p:txBody>
      </p:sp>
      <p:sp>
        <p:nvSpPr>
          <p:cNvPr id="20" name="title@top-plain-larg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spc="-72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center moratoria and the</a:t>
            </a:r>
            <a:endParaRPr lang="en-US" sz="36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3600" b="1" spc="-72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site-selection bottleneck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image-split"/>
          <p:cNvSpPr/>
          <p:nvPr/>
        </p:nvSpPr>
        <p:spPr>
          <a:xfrm>
            <a:off x="304800" y="1397000"/>
            <a:ext cx="11582400" cy="38100"/>
          </a:xfrm>
          <a:prstGeom prst="rect">
            <a:avLst/>
          </a:prstGeom>
          <a:solidFill>
            <a:srgbClr val="15131A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5947410"/>
            <a:ext cx="3657600" cy="6350"/>
          </a:xfrm>
          <a:prstGeom prst="rect">
            <a:avLst/>
          </a:prstGeom>
          <a:solidFill>
            <a:srgbClr val="D4D4D8"/>
          </a:solidFill>
          <a:ln/>
        </p:spPr>
      </p:sp>
      <p:pic>
        <p:nvPicPr>
          <p:cNvPr id="4" name="Image 0" descr="SiteWhy brand visual: site, grid and rule layers over the US | Source: branding/sitewhy-t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3662" y="1524000"/>
            <a:ext cx="7482276" cy="42087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4800" y="5808980"/>
            <a:ext cx="76200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Figure 1. SiteWhy brand visual: site, grid and rule layers over the US |</a:t>
            </a:r>
            <a:endParaRPr lang="en-US" sz="11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branding/sitewhy-team.png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229600" y="16017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8407400" y="1524000"/>
            <a:ext cx="34798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Verdict:</a:t>
            </a:r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go, conditional or no-go for a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 address plus IT load, with the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verified rule text, the applicability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math, and what would change the answer.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0" y="25034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8407400" y="2425700"/>
            <a:ext cx="34798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Track:</a:t>
            </a:r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The Agent That Can Explain Why: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every verdict traces to a quote plus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arithmetic, never to a completion alone.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229600" y="319881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8407400" y="3121025"/>
            <a:ext cx="3479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Scope:</a:t>
            </a:r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federal Title V, a 1,291-entry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moratorium dataset, Texas and ERCOT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 and grid rules from curated YAML,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county sources (draft ordinance, press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release, news article) with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verbatim-verified quotes.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229600" y="451326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3" name="Text 10"/>
          <p:cNvSpPr/>
          <p:nvPr/>
        </p:nvSpPr>
        <p:spPr>
          <a:xfrm>
            <a:off x="8407400" y="4435475"/>
            <a:ext cx="3479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screening tool, not legal advice.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229600" y="6023610"/>
            <a:ext cx="3657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README; samples/*.json</a:t>
            </a:r>
            <a:endParaRPr lang="en-US" sz="900" dirty="0"/>
          </a:p>
        </p:txBody>
      </p:sp>
      <p:sp>
        <p:nvSpPr>
          <p:cNvPr id="15" name="title@bottom-anchor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Verdicts with the rule, the math and the flip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process"/>
          <p:cNvSpPr/>
          <p:nvPr/>
        </p:nvSpPr>
        <p:spPr>
          <a:xfrm>
            <a:off x="304800" y="914400"/>
            <a:ext cx="115824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4" name="Text 2"/>
          <p:cNvSpPr/>
          <p:nvPr/>
        </p:nvSpPr>
        <p:spPr>
          <a:xfrm>
            <a:off x="304800" y="1524000"/>
            <a:ext cx="195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C836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304800" y="2103120"/>
            <a:ext cx="195072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6" name="Text 4"/>
          <p:cNvSpPr/>
          <p:nvPr/>
        </p:nvSpPr>
        <p:spPr>
          <a:xfrm>
            <a:off x="304800" y="2255520"/>
            <a:ext cx="19507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4800" y="2614295"/>
            <a:ext cx="1950720" cy="268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planner drafts targeted county investigation tasks on Nemotron Ultra (planning) · Input: site, MW, jurisdiction match, prior critic objections · Output: per-rule questions for the county investigator; federal, state and grid rules come from curated YAML evaluated in code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12720" y="1524000"/>
            <a:ext cx="195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C836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2712720" y="2103120"/>
            <a:ext cx="195072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10" name="Text 8"/>
          <p:cNvSpPr/>
          <p:nvPr/>
        </p:nvSpPr>
        <p:spPr>
          <a:xfrm>
            <a:off x="2712720" y="2255520"/>
            <a:ext cx="19507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Investigate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12720" y="2614295"/>
            <a:ext cx="195072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county investigator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reads primary sources ·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Lightning extraction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only, Markovian chunk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chain; quotes verbatim ·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Output: facts with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verbatim quotes and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locators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20640" y="1524000"/>
            <a:ext cx="195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C836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5120640" y="2103120"/>
            <a:ext cx="195072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14" name="Text 12"/>
          <p:cNvSpPr/>
          <p:nvPr/>
        </p:nvSpPr>
        <p:spPr>
          <a:xfrm>
            <a:off x="5120640" y="2255520"/>
            <a:ext cx="19507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20640" y="2614295"/>
            <a:ext cx="1950720" cy="1857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deterministic verbatim quote matching in code, retry at most twice · Unverifiable claims become needs_confirmation, never fatal verdicts · Output: verified, not_found or unsupported per claim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528560" y="1524000"/>
            <a:ext cx="195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C836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7528560" y="2103120"/>
            <a:ext cx="195072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18" name="Text 16"/>
          <p:cNvSpPr/>
          <p:nvPr/>
        </p:nvSpPr>
        <p:spPr>
          <a:xfrm>
            <a:off x="7528560" y="2255520"/>
            <a:ext cx="19507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Decide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28560" y="2614295"/>
            <a:ext cx="1950720" cy="1857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Python applicability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decides yes or no; the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adjudicator drafts the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verdict · The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adjudicator synthesizes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 Nemotron Ultra ·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Output: draft verdict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the why-chain and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flips table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936480" y="1524000"/>
            <a:ext cx="195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C836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9936480" y="2103120"/>
            <a:ext cx="195072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22" name="Text 20"/>
          <p:cNvSpPr/>
          <p:nvPr/>
        </p:nvSpPr>
        <p:spPr>
          <a:xfrm>
            <a:off x="9936480" y="2255520"/>
            <a:ext cx="19507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Critic and trace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936480" y="2614295"/>
            <a:ext cx="1950720" cy="268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red-team objections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(critique) loop back to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planner for round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· New investigator and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verifier passes target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objections; every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message is a typed event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 the World Model log ·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Unresolved objections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become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needs_confirmation; UI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lanes show the model and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receipt per request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04800" y="533304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25" name="Text 23"/>
          <p:cNvSpPr/>
          <p:nvPr/>
        </p:nvSpPr>
        <p:spPr>
          <a:xfrm>
            <a:off x="482600" y="5255260"/>
            <a:ext cx="114046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Real loop in Washington County MD: the critic rejected the draft six-month expiry, round 2 re-investigated, and the expiry ships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 needs_confirmation.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md-washington-county-unincorporated.json (events, catches, needs_confirmation[0]); app/orchestrator.py</a:t>
            </a:r>
            <a:endParaRPr lang="en-US" sz="900" dirty="0"/>
          </a:p>
        </p:txBody>
      </p:sp>
      <p:sp>
        <p:nvSpPr>
          <p:cNvPr id="27" name="title@top-rul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Agent workflow as a loop, not a chain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table-insight"/>
          <p:cNvSpPr/>
          <p:nvPr/>
        </p:nvSpPr>
        <p:spPr>
          <a:xfrm>
            <a:off x="304800" y="914400"/>
            <a:ext cx="115824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4800" y="1524000"/>
          <a:ext cx="11582400" cy="2332355"/>
        </p:xfrm>
        <a:graphic>
          <a:graphicData uri="http://schemas.openxmlformats.org/drawingml/2006/table">
            <a:tbl>
              <a:tblPr/>
              <a:tblGrid>
                <a:gridCol w="843751"/>
                <a:gridCol w="10738649"/>
              </a:tblGrid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Layer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Choice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FastAPI and uvicorn; SAMPLE_MODE runs the real agents on cached model responses, sources and geocodes, no keys, Zetaris or Nightshift needed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Data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Zetaris SITEWHY tables; DuckDB serves the same SQL when unreachable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provider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Meterless Nightshift for every model call, with a per-request receipt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Nemotron Lightning 30B for county extraction; Nemotron Ultra 550B for planning, synthesis and critique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Engines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World Model provenance log; Markovian county reasoning loop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04800" y="3932555"/>
            <a:ext cx="11582400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2. Stack as shipped, October 2026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04800" y="442055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482600" y="4342765"/>
            <a:ext cx="84328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One run at a time; a run past its deadline returns a partial needs_confirmation report instead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of hanging.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04800" y="490950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482600" y="4831715"/>
            <a:ext cx="8432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 local GPU needed; Python 3.12 with uv.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04800" y="519207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482600" y="5114290"/>
            <a:ext cx="84328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Programmatic entry: python run.py --input input_examples/&lt;site&gt;.json --sample, with per-event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traces in logs/*.jsonl.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README; app/llm.py STEP_MODELS; app/data.py; run.py</a:t>
            </a:r>
            <a:endParaRPr lang="en-US" sz="900" dirty="0"/>
          </a:p>
        </p:txBody>
      </p:sp>
      <p:sp>
        <p:nvSpPr>
          <p:cNvPr id="13" name="title@top-rul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Technical stack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kpi-row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4800" y="1524000"/>
          <a:ext cx="7620000" cy="1470025"/>
        </p:xfrm>
        <a:graphic>
          <a:graphicData uri="http://schemas.openxmlformats.org/drawingml/2006/table">
            <a:tbl>
              <a:tblPr/>
              <a:tblGrid>
                <a:gridCol w="1809065"/>
                <a:gridCol w="2412086"/>
                <a:gridCol w="3398849"/>
              </a:tblGrid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Runtime tables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USL artifact rows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USL and quality queries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moratoria plus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state_legislation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1,291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 plus 1 PASS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queried by the agents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at run time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usl_site_screen from 4 seed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tables, scripted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 exploratory plus 3 USL queries;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null_join_keys 0 violations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304800" y="3070225"/>
            <a:ext cx="7620000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3. app/screen.py, app/orchestrator.py; zetaris/usl.sql and zetaris/evidence/, committed f0f2b9b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0" y="16017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6" name="Text 3"/>
          <p:cNvSpPr/>
          <p:nvPr/>
        </p:nvSpPr>
        <p:spPr>
          <a:xfrm>
            <a:off x="8407400" y="1524000"/>
            <a:ext cx="3479800" cy="1031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Zetaris is the data layer: the agents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query SITEWHY.moratoria and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SITEWHY.state_legislation at run time;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DuckDB serves the same SQL when Zetaris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 unreachable.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270986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8" name="Text 5"/>
          <p:cNvSpPr/>
          <p:nvPr/>
        </p:nvSpPr>
        <p:spPr>
          <a:xfrm>
            <a:off x="8407400" y="2632075"/>
            <a:ext cx="34798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USL is a separate scripted artifact,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materialized because plain views do not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persist on this instance — evidence the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same joins hold, not yet on the agent path.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0" y="361156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0" name="Text 7"/>
          <p:cNvSpPr/>
          <p:nvPr/>
        </p:nvSpPr>
        <p:spPr>
          <a:xfrm>
            <a:off x="8407400" y="3533775"/>
            <a:ext cx="34798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Meterless Nightshift is the primary AI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provider; model and compute receipt per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request appear in the UI agent lanes.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229600" y="43068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2" name="Text 9"/>
          <p:cNvSpPr/>
          <p:nvPr/>
        </p:nvSpPr>
        <p:spPr>
          <a:xfrm>
            <a:off x="8407400" y="4229100"/>
            <a:ext cx="3479800" cy="1031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World Model shared provenance log with a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per-run JSONL audit; Markovian chunked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county loop, conformance-tested, with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 tokens saved on current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single-chunk sources.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29600" y="541496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4" name="Text 11"/>
          <p:cNvSpPr/>
          <p:nvPr/>
        </p:nvSpPr>
        <p:spPr>
          <a:xfrm>
            <a:off x="8407400" y="5337175"/>
            <a:ext cx="3479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Cursor: &lt;to confirm&gt;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app/screen.py; app/orchestrator.py; zetaris/evidence/registration.json, run.json, dq_rule.json</a:t>
            </a:r>
            <a:endParaRPr lang="en-US" sz="900" dirty="0"/>
          </a:p>
        </p:txBody>
      </p:sp>
      <p:sp>
        <p:nvSpPr>
          <p:cNvPr id="16" name="title@top-plain-larg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Zetaris and Meterless integration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comparison"/>
          <p:cNvSpPr/>
          <p:nvPr/>
        </p:nvSpPr>
        <p:spPr>
          <a:xfrm>
            <a:off x="304800" y="1962150"/>
            <a:ext cx="56388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6248400" y="1962150"/>
            <a:ext cx="56388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4" name="Shape 2"/>
          <p:cNvSpPr/>
          <p:nvPr/>
        </p:nvSpPr>
        <p:spPr>
          <a:xfrm>
            <a:off x="304800" y="298450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5" name="Shape 3"/>
          <p:cNvSpPr/>
          <p:nvPr/>
        </p:nvSpPr>
        <p:spPr>
          <a:xfrm>
            <a:off x="304800" y="400685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6" name="Shape 4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7" name="Text 5"/>
          <p:cNvSpPr/>
          <p:nvPr/>
        </p:nvSpPr>
        <p:spPr>
          <a:xfrm>
            <a:off x="304800" y="1524000"/>
            <a:ext cx="5638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Rule-listing tools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248400" y="1524000"/>
            <a:ext cx="5638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SiteWhy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04800" y="2190750"/>
            <a:ext cx="5638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 rules and scores for an area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48400" y="2190750"/>
            <a:ext cx="5638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Models propose candidate rules; Python decides applies yes or no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4800" y="3213100"/>
            <a:ext cx="5638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Leave the applicability question to the reader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48400" y="3213100"/>
            <a:ext cx="5638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Each claim carries the verbatim quote, source URL and as-of date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4800" y="4235450"/>
            <a:ext cx="5638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Keep no record of which model said what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248400" y="4235450"/>
            <a:ext cx="56388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Computed flips show what would change the verdict; the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critic re-investigates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04800" y="553942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6" name="Text 14"/>
          <p:cNvSpPr/>
          <p:nvPr/>
        </p:nvSpPr>
        <p:spPr>
          <a:xfrm>
            <a:off x="482600" y="5461635"/>
            <a:ext cx="114046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Models propose, deterministic code disposes, so every verdict traces to a quote plus arithmetic.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README; judging evidence why.md and tech.md</a:t>
            </a:r>
            <a:endParaRPr lang="en-US" sz="900" dirty="0"/>
          </a:p>
        </p:txBody>
      </p:sp>
      <p:sp>
        <p:nvSpPr>
          <p:cNvPr id="18" name="title@top-plain-larg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spc="-72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Deterministic checks</a:t>
            </a:r>
            <a:endParaRPr lang="en-US" sz="36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3600" b="1" spc="-72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between model calls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kpi-row"/>
          <p:cNvSpPr/>
          <p:nvPr/>
        </p:nvSpPr>
        <p:spPr>
          <a:xfrm>
            <a:off x="304800" y="914400"/>
            <a:ext cx="115824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4800" y="1524000"/>
          <a:ext cx="11582400" cy="1522095"/>
        </p:xfrm>
        <a:graphic>
          <a:graphicData uri="http://schemas.openxmlformats.org/drawingml/2006/table">
            <a:tbl>
              <a:tblPr/>
              <a:tblGrid>
                <a:gridCol w="3232298"/>
                <a:gridCol w="3681228"/>
                <a:gridCol w="2962940"/>
                <a:gridCol w="1705935"/>
              </a:tblGrid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Ground truth sites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Seeded critic faults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Recorded samples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Test suite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3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 / 3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 / 3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171 passed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83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Washington MD, Abilene TX, Tucson AZ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fatal-pima, title-v, washington-exemption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 at 300 MW plus Abilene at 50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pytest, 27 Oct 2026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04800" y="3122295"/>
            <a:ext cx="11582400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4. data/eval/results.json; samples/*.json; pytest run 2026-10-27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04800" y="4232592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482600" y="4154805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Markovian saved 0 tokens on current sources; the engine and its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accounting are implemented and tested.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04800" y="4797742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482600" y="4719955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Seed rules are curated with runtime-verified quotes; autonomous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discovery is roadmap.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48400" y="4232592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6426200" y="4154805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 is modelled for Texas and ERCOT plus two counties; other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states get a federal-only report with an explicit scope note.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48400" y="4797742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3" name="Text 10"/>
          <p:cNvSpPr/>
          <p:nvPr/>
        </p:nvSpPr>
        <p:spPr>
          <a:xfrm>
            <a:off x="6426200" y="4719955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Sample mode replays recorded model answers while the agent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logic runs for real.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data/eval/results.json; README limitations; app/llm.py cache replay</a:t>
            </a:r>
            <a:endParaRPr lang="en-US" sz="900" dirty="0"/>
          </a:p>
        </p:txBody>
      </p:sp>
      <p:sp>
        <p:nvSpPr>
          <p:cNvPr id="15" name="title@top-rul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Evaluation and honest limits</a:t>
            </a: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image-split"/>
          <p:cNvSpPr/>
          <p:nvPr/>
        </p:nvSpPr>
        <p:spPr>
          <a:xfrm>
            <a:off x="304800" y="1397000"/>
            <a:ext cx="11582400" cy="38100"/>
          </a:xfrm>
          <a:prstGeom prst="rect">
            <a:avLst/>
          </a:prstGeom>
          <a:solidFill>
            <a:srgbClr val="15131A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5947410"/>
            <a:ext cx="3657600" cy="6350"/>
          </a:xfrm>
          <a:prstGeom prst="rect">
            <a:avLst/>
          </a:prstGeom>
          <a:solidFill>
            <a:srgbClr val="D4D4D8"/>
          </a:solidFill>
          <a:ln/>
        </p:spPr>
      </p:sp>
      <p:pic>
        <p:nvPicPr>
          <p:cNvPr id="4" name="Image 0" descr="Recorded no-go report: county moratorium with verified quote and applicability math | Source: app screenshot, 27 Oct 2026, 1440x8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3662" y="1524000"/>
            <a:ext cx="7482276" cy="42087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4800" y="5808980"/>
            <a:ext cx="76200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Figure 2. Recorded no-go report: county moratorium with verified quote and applicability math | Source:</a:t>
            </a:r>
            <a:endParaRPr lang="en-US" sz="11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 screenshot, 27 Oct 2026, 1440x810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229600" y="16351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8483600" y="1524000"/>
            <a:ext cx="340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Finding: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Washington County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 unincorporated at 300 MW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 no-go under county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moratorium ORD-2026-12.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0" y="28543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8483600" y="2743200"/>
            <a:ext cx="34036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verbatim quote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a verified badge,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duration and primary source,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then the in-effect check and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applies-to-site result.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229600" y="435927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8483600" y="4248150"/>
            <a:ext cx="340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Badge: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showcase reports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carry a Recorded run mark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the UTC date; live runs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carry none.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229600" y="6023610"/>
            <a:ext cx="3657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samples/md-washington-county-unincorporated.json</a:t>
            </a:r>
            <a:endParaRPr lang="en-US" sz="900" dirty="0"/>
          </a:p>
        </p:txBody>
      </p:sp>
      <p:sp>
        <p:nvSpPr>
          <p:cNvPr id="13" name="title@bottom-anchor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no-go with its verified rule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image-split"/>
          <p:cNvSpPr/>
          <p:nvPr/>
        </p:nvSpPr>
        <p:spPr>
          <a:xfrm>
            <a:off x="304800" y="1397000"/>
            <a:ext cx="11582400" cy="38100"/>
          </a:xfrm>
          <a:prstGeom prst="rect">
            <a:avLst/>
          </a:prstGeom>
          <a:solidFill>
            <a:srgbClr val="15131A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5947410"/>
            <a:ext cx="3657600" cy="6350"/>
          </a:xfrm>
          <a:prstGeom prst="rect">
            <a:avLst/>
          </a:prstGeom>
          <a:solidFill>
            <a:srgbClr val="D4D4D8"/>
          </a:solidFill>
          <a:ln/>
        </p:spPr>
      </p:sp>
      <p:pic>
        <p:nvPicPr>
          <p:cNvPr id="4" name="Image 0" descr="Recorded conditional report: the same county gives a different answer inside city limits | Source: app screenshot, 27 Oct 2026, 1440x8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3662" y="1524000"/>
            <a:ext cx="7482276" cy="42087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4800" y="5808980"/>
            <a:ext cx="76200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Figure 3. Recorded conditional report: the same county gives a different answer inside city limits |</a:t>
            </a:r>
            <a:endParaRPr lang="en-US" sz="11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app screenshot, 27 Oct 2026, 1440x810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229600" y="16351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8483600" y="1524000"/>
            <a:ext cx="340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Flip: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the Hagerstown city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 is conditional because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county ordinance does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 cover the city.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0" y="28543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8483600" y="2743200"/>
            <a:ext cx="34036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Math: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the flips table shows that at 25 MW instead of 300 MW the Title V finding changes yes to no, with estimate badges on computed lines.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229600" y="435927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8483600" y="4248150"/>
            <a:ext cx="3403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scope flip is the headline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demo leads with.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229600" y="6023610"/>
            <a:ext cx="3657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samples/md-hagerstown-city.json</a:t>
            </a:r>
            <a:endParaRPr lang="en-US" sz="900" dirty="0"/>
          </a:p>
        </p:txBody>
      </p:sp>
      <p:sp>
        <p:nvSpPr>
          <p:cNvPr id="13" name="title@bottom-anchor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Incorporated city versus unincorporated county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image-split"/>
          <p:cNvSpPr/>
          <p:nvPr/>
        </p:nvSpPr>
        <p:spPr>
          <a:xfrm>
            <a:off x="304800" y="1397000"/>
            <a:ext cx="11582400" cy="38100"/>
          </a:xfrm>
          <a:prstGeom prst="rect">
            <a:avLst/>
          </a:prstGeom>
          <a:solidFill>
            <a:srgbClr val="15131A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5947410"/>
            <a:ext cx="3657600" cy="6350"/>
          </a:xfrm>
          <a:prstGeom prst="rect">
            <a:avLst/>
          </a:prstGeom>
          <a:solidFill>
            <a:srgbClr val="D4D4D8"/>
          </a:solidFill>
          <a:ln/>
        </p:spPr>
      </p:sp>
      <p:pic>
        <p:nvPicPr>
          <p:cNvPr id="4" name="Image 0" descr="Model trace: role, Nemotron model, compute receipt and latency per call | Source: app screenshot, 27 Oct 2026, 1440x8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3662" y="1524000"/>
            <a:ext cx="7482276" cy="42087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4800" y="5808980"/>
            <a:ext cx="76200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Figure 4. Model trace: role, Nemotron model, compute receipt and latency per call | Source: app</a:t>
            </a:r>
            <a:endParaRPr lang="en-US" sz="11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screenshot, 27 Oct 2026, 1440x810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229600" y="16351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8483600" y="1524000"/>
            <a:ext cx="340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Trace: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each row names the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agent role, the Nemotron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model, the compute receipt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 the latency.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0" y="28543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8483600" y="2743200"/>
            <a:ext cx="34036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Roles: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Lightning handles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county extraction; code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verifies quotes verbatim;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Ultra handles planning,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synthesis and critique.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229600" y="435927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8483600" y="4248150"/>
            <a:ext cx="34036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 traced calls across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samples: 18 Ultra and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Lightning.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229600" y="6023610"/>
            <a:ext cx="3657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samples/*.json model_trace; README evaluation</a:t>
            </a:r>
            <a:endParaRPr lang="en-US" sz="900" dirty="0"/>
          </a:p>
        </p:txBody>
      </p:sp>
      <p:sp>
        <p:nvSpPr>
          <p:cNvPr id="13" name="title@bottom-anchor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Every model call on the record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table-insight"/>
          <p:cNvSpPr/>
          <p:nvPr/>
        </p:nvSpPr>
        <p:spPr>
          <a:xfrm>
            <a:off x="304800" y="914400"/>
            <a:ext cx="115824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4800" y="1524000"/>
          <a:ext cx="11582400" cy="2129790"/>
        </p:xfrm>
        <a:graphic>
          <a:graphicData uri="http://schemas.openxmlformats.org/drawingml/2006/table">
            <a:tbl>
              <a:tblPr/>
              <a:tblGrid>
                <a:gridCol w="4179216"/>
                <a:gridCol w="6089715"/>
                <a:gridCol w="1313468"/>
              </a:tblGrid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Sample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Input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Verdict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md-washington-county-unincorporated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13820 Pennsylvania Ave, Hagerstown MD 21742, 300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no-go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md-hagerstown-city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 W Washington St, Hagerstown MD 21740, 300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conditional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tx-abilene-ercot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555 Walnut St, Abilene TX 79601, 300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conditional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tx-abilene-ercot-50mw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Same Abilene address, 50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conditional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az-tucson-pima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255 W Alameda St, Tucson AZ 85701, 300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conditional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04800" y="3729990"/>
            <a:ext cx="11582400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5. samples/*.json, recorded 25 Oct 2026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04800" y="42179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482600" y="4140200"/>
            <a:ext cx="84328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Four sites at 300 MW plus a 50 MW contrast at the same address; verdicts match the data/eval ground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truth on the 3 checked sites.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04800" y="470693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482600" y="4629150"/>
            <a:ext cx="84328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Abilene 300 vs 50 MW: Title V yes both (1,067 to 185 tpy NOx); SB 6 yes to no; ERCOT audit yes to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no; verdict conditional both.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04800" y="51958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482600" y="5118100"/>
            <a:ext cx="8432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Each sample carries model_trace with the model per request, plus markovian_runs and events.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samples/*.json (Title V computed.nox_tpy; SB 6 and audit applies fields)</a:t>
            </a:r>
            <a:endParaRPr lang="en-US" sz="900" dirty="0"/>
          </a:p>
        </p:txBody>
      </p:sp>
      <p:sp>
        <p:nvSpPr>
          <p:cNvPr id="13" name="title@top-rul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Recorded samples and verdicts</a:t>
            </a:r>
            <a:endParaRPr lang="en-US" sz="2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table-insight"/>
          <p:cNvSpPr/>
          <p:nvPr/>
        </p:nvSpPr>
        <p:spPr>
          <a:xfrm>
            <a:off x="304800" y="914400"/>
            <a:ext cx="115824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4800" y="1524000"/>
          <a:ext cx="11582400" cy="2637790"/>
        </p:xfrm>
        <a:graphic>
          <a:graphicData uri="http://schemas.openxmlformats.org/drawingml/2006/table">
            <a:tbl>
              <a:tblPr/>
              <a:tblGrid>
                <a:gridCol w="3948545"/>
                <a:gridCol w="7633855"/>
              </a:tblGrid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Enhancement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Why it matters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Agent rule discovery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Replace curated seed rules with runtime-verified discovery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More states and ISO rules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Extend beyond Texas and ERCOT plus two counties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Quote-to-value alignment check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Verify the numbers, not just quote presence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Multi-chunk Markovian demo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Show token savings on larger sources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Dockerfile judge path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One-command sample-mode run for judges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04800" y="4237990"/>
            <a:ext cx="11582400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6. Roadmap as of 27 Oct 2026; none of this changes the recorded verdicts above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04800" y="50307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482600" y="4953000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scope stays honest: no accuracy claims beyond the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measured 3/3 ground truth and 3/3 seeded faults.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48400" y="50307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6426200" y="4953000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Pre-window datasets and the Meterless specs are declared as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pre-existing third-party material.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plans/m4-submission.md; README limitations</a:t>
            </a:r>
            <a:endParaRPr lang="en-US" sz="900" dirty="0"/>
          </a:p>
        </p:txBody>
      </p:sp>
      <p:sp>
        <p:nvSpPr>
          <p:cNvPr id="11" name="title@top-rul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Planned enhancements and current scope</a:t>
            </a:r>
            <a:endParaRPr lang="en-US" sz="2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pport@statement"/>
          <p:cNvSpPr/>
          <p:nvPr/>
        </p:nvSpPr>
        <p:spPr>
          <a:xfrm>
            <a:off x="304800" y="4724400"/>
            <a:ext cx="7620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Track: The Agent That Can Explain Why. Solo team SiteWhy. Every verdict traces to a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quote plus arithmetic.</a:t>
            </a:r>
            <a:endParaRPr lang="en-US" sz="1300" dirty="0"/>
          </a:p>
        </p:txBody>
      </p:sp>
      <p:sp>
        <p:nvSpPr>
          <p:cNvPr id="3" name="title@statement"/>
          <p:cNvSpPr/>
          <p:nvPr/>
        </p:nvSpPr>
        <p:spPr>
          <a:xfrm>
            <a:off x="304800" y="1676400"/>
            <a:ext cx="861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900"/>
              </a:lnSpc>
              <a:buNone/>
            </a:pPr>
            <a:r>
              <a:rPr lang="en-US" sz="6000" b="1" spc="-120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track</a:t>
            </a:r>
            <a:endParaRPr lang="en-US" sz="6000" dirty="0"/>
          </a:p>
          <a:p>
            <a:pPr algn="l" indent="0" marL="0">
              <a:lnSpc>
                <a:spcPts val="6900"/>
              </a:lnSpc>
              <a:buNone/>
            </a:pPr>
            <a:r>
              <a:rPr lang="en-US" sz="6000" b="1" spc="-120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 the team</a:t>
            </a:r>
            <a:endParaRPr lang="en-US" sz="6000" dirty="0"/>
          </a:p>
        </p:txBody>
      </p:sp>
      <p:sp>
        <p:nvSpPr>
          <p:cNvPr id="4" name="family@closing-statement"/>
          <p:cNvSpPr/>
          <p:nvPr/>
        </p:nvSpPr>
        <p:spPr>
          <a:xfrm>
            <a:off x="304800" y="457200"/>
            <a:ext cx="0" cy="0"/>
          </a:xfrm>
          <a:prstGeom prst="rect">
            <a:avLst/>
          </a:prstGeom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Pretendard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Pretendard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SiteWhy</dc:title>
  <dc:subject>lit-pptx tonality=signal density=10 grid=compact variance=6</dc:subject>
  <dc:creator>PptxGenJS</dc:creator>
  <cp:lastModifiedBy>PptxGenJS</cp:lastModifiedBy>
  <cp:revision>1</cp:revision>
  <dcterms:created xsi:type="dcterms:W3CDTF">2026-10-27T05:32:53Z</dcterms:created>
  <dcterms:modified xsi:type="dcterms:W3CDTF">2026-10-27T05:32:53Z</dcterms:modified>
</cp:coreProperties>
</file>